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313" r:id="rId5"/>
    <p:sldId id="314" r:id="rId6"/>
    <p:sldId id="315" r:id="rId7"/>
    <p:sldId id="316" r:id="rId8"/>
    <p:sldId id="321" r:id="rId9"/>
    <p:sldId id="317" r:id="rId10"/>
    <p:sldId id="318" r:id="rId11"/>
    <p:sldId id="319" r:id="rId12"/>
    <p:sldId id="320" r:id="rId13"/>
    <p:sldId id="322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23" r:id="rId25"/>
    <p:sldId id="29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458"/>
    <a:srgbClr val="00EE6C"/>
    <a:srgbClr val="007834"/>
    <a:srgbClr val="00823F"/>
    <a:srgbClr val="008134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82F4B-3D86-43F9-BBA9-0583F5ED6FCD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2AF5B-2EB7-4D3A-9A7C-1E088DC8948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72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269260"/>
            <a:ext cx="2743200" cy="365125"/>
          </a:xfrm>
        </p:spPr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26926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269260"/>
            <a:ext cx="2743200" cy="365125"/>
          </a:xfrm>
        </p:spPr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610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269327"/>
            <a:ext cx="10515600" cy="1325563"/>
          </a:xfrm>
        </p:spPr>
        <p:txBody>
          <a:bodyPr>
            <a:normAutofit/>
          </a:bodyPr>
          <a:lstStyle>
            <a:lvl1pPr>
              <a:defRPr sz="3000">
                <a:latin typeface="ArialMT"/>
              </a:defRPr>
            </a:lvl1pPr>
          </a:lstStyle>
          <a:p>
            <a:r>
              <a:rPr lang="it-IT" dirty="0" smtClean="0"/>
              <a:t>Fare clic per modificare lo stile del titolo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555659"/>
            <a:ext cx="10515600" cy="4505507"/>
          </a:xfrm>
        </p:spPr>
        <p:txBody>
          <a:bodyPr/>
          <a:lstStyle>
            <a:lvl1pPr marL="358775" indent="-358775">
              <a:defRPr sz="2500">
                <a:latin typeface="ArialMT"/>
              </a:defRPr>
            </a:lvl1pPr>
            <a:lvl2pPr marL="828000" indent="-324000">
              <a:buFontTx/>
              <a:buChar char="–"/>
              <a:defRPr sz="2200">
                <a:latin typeface="ArialMT"/>
              </a:defRPr>
            </a:lvl2pPr>
            <a:lvl3pPr marL="1260000" indent="-234000">
              <a:defRPr sz="2000">
                <a:latin typeface="ArialMT"/>
              </a:defRPr>
            </a:lvl3pPr>
            <a:lvl4pPr marL="1692000" indent="-252000">
              <a:buFontTx/>
              <a:buChar char="–"/>
              <a:defRPr sz="1800">
                <a:latin typeface="ArialMT"/>
              </a:defRPr>
            </a:lvl4pPr>
            <a:lvl5pPr marL="2088000" indent="-216000">
              <a:defRPr sz="1600">
                <a:latin typeface="ArialMT"/>
              </a:defRPr>
            </a:lvl5pPr>
          </a:lstStyle>
          <a:p>
            <a:pPr lvl="0"/>
            <a:r>
              <a:rPr lang="it-IT" dirty="0" smtClean="0"/>
              <a:t>Modifica gli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26926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MT"/>
              </a:defRPr>
            </a:lvl1pPr>
          </a:lstStyle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269260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26926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MT"/>
              </a:defRPr>
            </a:lvl1pPr>
          </a:lstStyle>
          <a:p>
            <a:fld id="{03700B1A-3559-4D9E-843C-EE6F429E8C8C}" type="slidenum">
              <a:rPr lang="en-GB" smtClean="0"/>
              <a:pPr/>
              <a:t>‹N›</a:t>
            </a:fld>
            <a:endParaRPr lang="en-GB" dirty="0"/>
          </a:p>
        </p:txBody>
      </p:sp>
      <p:cxnSp>
        <p:nvCxnSpPr>
          <p:cNvPr id="8" name="Connettore diritto 7"/>
          <p:cNvCxnSpPr/>
          <p:nvPr userDrawn="1"/>
        </p:nvCxnSpPr>
        <p:spPr>
          <a:xfrm>
            <a:off x="838200" y="1213234"/>
            <a:ext cx="7272000" cy="0"/>
          </a:xfrm>
          <a:prstGeom prst="line">
            <a:avLst/>
          </a:prstGeom>
          <a:ln w="63500" cap="flat" cmpd="thickThin">
            <a:solidFill>
              <a:srgbClr val="00823F"/>
            </a:solidFill>
          </a:ln>
          <a:effectLst>
            <a:softEdge rad="0"/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6336" y="365125"/>
            <a:ext cx="2436582" cy="5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61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341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46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05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04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98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34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69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98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64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Matteo Basili - ISW2 2024/25</a:t>
            </a:r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00B1A-3559-4D9E-843C-EE6F429E8C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70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490471" y="2705170"/>
            <a:ext cx="9211057" cy="575174"/>
          </a:xfrm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it-IT" sz="3000" b="1" dirty="0">
                <a:solidFill>
                  <a:srgbClr val="00823F"/>
                </a:solidFill>
                <a:latin typeface="Arial-BoldMT"/>
                <a:cs typeface="Times New Roman" panose="02020603050405020304" pitchFamily="18" charset="0"/>
              </a:rPr>
              <a:t>Predizione di Classi </a:t>
            </a:r>
            <a:r>
              <a:rPr lang="it-IT" sz="3000" b="1" dirty="0" err="1">
                <a:solidFill>
                  <a:srgbClr val="00823F"/>
                </a:solidFill>
                <a:latin typeface="Arial-BoldMT"/>
                <a:cs typeface="Times New Roman" panose="02020603050405020304" pitchFamily="18" charset="0"/>
              </a:rPr>
              <a:t>Buggy</a:t>
            </a:r>
            <a:r>
              <a:rPr lang="it-IT" sz="3000" b="1" dirty="0">
                <a:solidFill>
                  <a:srgbClr val="00823F"/>
                </a:solidFill>
                <a:latin typeface="Arial-BoldMT"/>
                <a:cs typeface="Times New Roman" panose="02020603050405020304" pitchFamily="18" charset="0"/>
              </a:rPr>
              <a:t> con Machine Learning</a:t>
            </a:r>
            <a:endParaRPr lang="en-GB" sz="3000" b="1" dirty="0">
              <a:solidFill>
                <a:srgbClr val="00823F"/>
              </a:solidFill>
              <a:latin typeface="Arial-BoldMT"/>
              <a:cs typeface="Times New Roman" panose="02020603050405020304" pitchFamily="18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326696"/>
            <a:ext cx="9144000" cy="804499"/>
          </a:xfrm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/>
          <a:lstStyle/>
          <a:p>
            <a:r>
              <a:rPr lang="it-IT" b="1" dirty="0">
                <a:solidFill>
                  <a:srgbClr val="00B050"/>
                </a:solidFill>
                <a:latin typeface="Arial-BoldMT"/>
              </a:rPr>
              <a:t>Studio di fattibilità su tecniche per migliorare il supporto al </a:t>
            </a:r>
            <a:r>
              <a:rPr lang="it-IT" b="1" dirty="0" err="1">
                <a:solidFill>
                  <a:srgbClr val="00B050"/>
                </a:solidFill>
                <a:latin typeface="Arial-BoldMT"/>
              </a:rPr>
              <a:t>testing</a:t>
            </a:r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14" y="479814"/>
            <a:ext cx="3742380" cy="832194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5972060" y="627041"/>
            <a:ext cx="5424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1" dirty="0" err="1">
                <a:latin typeface="Calibri-Bold"/>
              </a:rPr>
              <a:t>Macroarea</a:t>
            </a:r>
            <a:r>
              <a:rPr lang="en-GB" sz="1500" b="1" dirty="0">
                <a:latin typeface="Calibri-Bold"/>
              </a:rPr>
              <a:t> di </a:t>
            </a:r>
            <a:r>
              <a:rPr lang="en-GB" sz="1500" b="1" dirty="0" err="1">
                <a:latin typeface="Calibri-Bold"/>
              </a:rPr>
              <a:t>Ingegneria</a:t>
            </a:r>
            <a:endParaRPr lang="en-GB" sz="1500" b="1" dirty="0">
              <a:latin typeface="Calibri-Bold"/>
            </a:endParaRPr>
          </a:p>
          <a:p>
            <a:r>
              <a:rPr lang="it-IT" sz="1500" b="1" dirty="0">
                <a:latin typeface="Calibri-Bold"/>
              </a:rPr>
              <a:t>Dipartimento di Ingegneria Civile e Ingegneria Informatica</a:t>
            </a:r>
            <a:endParaRPr lang="en-GB" sz="15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862916" y="5496927"/>
            <a:ext cx="5126724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Arial-BoldMT"/>
              </a:rPr>
              <a:t>Corso di </a:t>
            </a:r>
            <a:r>
              <a:rPr lang="en-GB" sz="2000" b="1" dirty="0" err="1">
                <a:latin typeface="Arial-BoldMT"/>
              </a:rPr>
              <a:t>I</a:t>
            </a:r>
            <a:r>
              <a:rPr lang="en-GB" sz="2000" b="1" dirty="0" err="1" smtClean="0">
                <a:latin typeface="Arial-BoldMT"/>
              </a:rPr>
              <a:t>ngegneria</a:t>
            </a:r>
            <a:r>
              <a:rPr lang="en-GB" sz="2000" b="1" dirty="0" smtClean="0">
                <a:latin typeface="Arial-BoldMT"/>
              </a:rPr>
              <a:t> del Software 2</a:t>
            </a:r>
            <a:endParaRPr lang="it-IT" sz="2000" b="1" dirty="0" smtClean="0">
              <a:latin typeface="Arial-BoldMT"/>
            </a:endParaRPr>
          </a:p>
          <a:p>
            <a:endParaRPr lang="it-IT" sz="300" b="1" dirty="0" smtClean="0">
              <a:latin typeface="Arial-BoldMT"/>
            </a:endParaRPr>
          </a:p>
          <a:p>
            <a:pPr lvl="0"/>
            <a:r>
              <a:rPr lang="it-IT" sz="2000" dirty="0">
                <a:solidFill>
                  <a:prstClr val="black"/>
                </a:solidFill>
                <a:latin typeface="ArialMT"/>
              </a:rPr>
              <a:t>Laurea Magistrale in Ingegneria </a:t>
            </a:r>
            <a:r>
              <a:rPr lang="it-IT" sz="2000" dirty="0" smtClean="0">
                <a:solidFill>
                  <a:prstClr val="black"/>
                </a:solidFill>
                <a:latin typeface="ArialMT"/>
              </a:rPr>
              <a:t>Informatica</a:t>
            </a:r>
            <a:endParaRPr lang="en-GB" sz="2000" dirty="0">
              <a:solidFill>
                <a:prstClr val="black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9522472" y="5496925"/>
            <a:ext cx="166584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MT"/>
              </a:rPr>
              <a:t>A.A. </a:t>
            </a:r>
            <a:r>
              <a:rPr lang="en-GB" sz="2000" dirty="0" smtClean="0">
                <a:latin typeface="ArialMT"/>
              </a:rPr>
              <a:t>2024/25</a:t>
            </a:r>
          </a:p>
          <a:p>
            <a:endParaRPr lang="en-GB" sz="300" dirty="0" smtClean="0">
              <a:latin typeface="ArialMT"/>
            </a:endParaRPr>
          </a:p>
          <a:p>
            <a:pPr lvl="0"/>
            <a:r>
              <a:rPr lang="en-GB" sz="2000" dirty="0">
                <a:solidFill>
                  <a:prstClr val="black"/>
                </a:solidFill>
                <a:latin typeface="ArialMT"/>
              </a:rPr>
              <a:t>Matteo </a:t>
            </a:r>
            <a:r>
              <a:rPr lang="en-GB" sz="2000" dirty="0" err="1">
                <a:solidFill>
                  <a:prstClr val="black"/>
                </a:solidFill>
                <a:latin typeface="ArialMT"/>
              </a:rPr>
              <a:t>Basili</a:t>
            </a:r>
            <a:endParaRPr lang="en-GB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72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Agenda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Introduzione e Obiettivi</a:t>
            </a:r>
          </a:p>
          <a:p>
            <a:r>
              <a:rPr lang="it-IT" dirty="0" smtClean="0"/>
              <a:t>Raccolta Dati e </a:t>
            </a:r>
            <a:r>
              <a:rPr lang="it-IT" dirty="0" err="1" smtClean="0"/>
              <a:t>Labeling</a:t>
            </a:r>
            <a:endParaRPr lang="it-IT" dirty="0" smtClean="0"/>
          </a:p>
          <a:p>
            <a:r>
              <a:rPr lang="it-IT" dirty="0" smtClean="0"/>
              <a:t>Addestramento e Valutazione dei Modelli</a:t>
            </a:r>
          </a:p>
          <a:p>
            <a:r>
              <a:rPr lang="it-IT" dirty="0" smtClean="0"/>
              <a:t>Risultati</a:t>
            </a:r>
          </a:p>
          <a:p>
            <a:r>
              <a:rPr lang="it-IT" dirty="0" smtClean="0"/>
              <a:t>Conclusioni</a:t>
            </a:r>
            <a:endParaRPr lang="it-IT" dirty="0"/>
          </a:p>
          <a:p>
            <a:endParaRPr lang="it-IT" dirty="0" smtClean="0">
              <a:latin typeface="ArialMT"/>
            </a:endParaRPr>
          </a:p>
          <a:p>
            <a:endParaRPr lang="it-IT" dirty="0"/>
          </a:p>
          <a:p>
            <a:endParaRPr lang="en-GB" dirty="0" smtClean="0">
              <a:latin typeface="ArialMT"/>
            </a:endParaRPr>
          </a:p>
        </p:txBody>
      </p:sp>
      <p:sp>
        <p:nvSpPr>
          <p:cNvPr id="9" name="Segnaposto data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  <a:latin typeface="ArialMT"/>
              </a:rPr>
              <a:t>Matteo Basili - ISW2 2024/25</a:t>
            </a:r>
            <a:endParaRPr lang="en-GB" dirty="0">
              <a:solidFill>
                <a:schemeClr val="tx1"/>
              </a:solidFill>
              <a:latin typeface="ArialMT"/>
            </a:endParaRPr>
          </a:p>
        </p:txBody>
      </p: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>
                <a:solidFill>
                  <a:schemeClr val="tx1"/>
                </a:solidFill>
                <a:latin typeface="ArialMT"/>
              </a:rPr>
              <a:t>2</a:t>
            </a:fld>
            <a:endParaRPr lang="en-GB" dirty="0">
              <a:solidFill>
                <a:schemeClr val="tx1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11303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Introduzione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Il </a:t>
            </a:r>
            <a:r>
              <a:rPr lang="it-IT" dirty="0" smtClean="0">
                <a:solidFill>
                  <a:srgbClr val="00C458"/>
                </a:solidFill>
              </a:rPr>
              <a:t>software </a:t>
            </a:r>
            <a:r>
              <a:rPr lang="it-IT" dirty="0" err="1" smtClean="0">
                <a:solidFill>
                  <a:srgbClr val="00C458"/>
                </a:solidFill>
              </a:rPr>
              <a:t>testing</a:t>
            </a:r>
            <a:r>
              <a:rPr lang="it-IT" dirty="0" smtClean="0">
                <a:solidFill>
                  <a:srgbClr val="00C458"/>
                </a:solidFill>
              </a:rPr>
              <a:t> </a:t>
            </a:r>
            <a:r>
              <a:rPr lang="it-IT" dirty="0"/>
              <a:t>è una fase fondamentale per garantire qualità e affidabilità, ma risulta spesso </a:t>
            </a:r>
            <a:r>
              <a:rPr lang="it-IT" i="1" dirty="0"/>
              <a:t>costosa</a:t>
            </a:r>
            <a:r>
              <a:rPr lang="it-IT" dirty="0"/>
              <a:t> e </a:t>
            </a:r>
            <a:r>
              <a:rPr lang="it-IT" i="1" dirty="0" smtClean="0"/>
              <a:t>time-</a:t>
            </a:r>
            <a:r>
              <a:rPr lang="it-IT" i="1" dirty="0" err="1" smtClean="0"/>
              <a:t>consuming</a:t>
            </a:r>
            <a:endParaRPr lang="it-IT" i="1" dirty="0" smtClean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/>
          </a:p>
          <a:p>
            <a:r>
              <a:rPr lang="it-IT" dirty="0" smtClean="0"/>
              <a:t>Individuare </a:t>
            </a:r>
            <a:r>
              <a:rPr lang="it-IT" dirty="0"/>
              <a:t>in anticipo le parti più problematiche può ridurre significativamente sforzi e tempi di </a:t>
            </a:r>
            <a:r>
              <a:rPr lang="it-IT" dirty="0" smtClean="0"/>
              <a:t>verifica</a:t>
            </a:r>
          </a:p>
          <a:p>
            <a:endParaRPr lang="it-IT" dirty="0" smtClean="0"/>
          </a:p>
          <a:p>
            <a:r>
              <a:rPr lang="it-IT" dirty="0"/>
              <a:t>Adottare un approccio </a:t>
            </a:r>
            <a:r>
              <a:rPr lang="it-IT" i="1" dirty="0" err="1">
                <a:solidFill>
                  <a:srgbClr val="00C458"/>
                </a:solidFill>
              </a:rPr>
              <a:t>risk-based</a:t>
            </a:r>
            <a:r>
              <a:rPr lang="it-IT" dirty="0"/>
              <a:t> e </a:t>
            </a:r>
            <a:r>
              <a:rPr lang="it-IT" dirty="0">
                <a:solidFill>
                  <a:srgbClr val="00C458"/>
                </a:solidFill>
              </a:rPr>
              <a:t>predittivo</a:t>
            </a:r>
            <a:r>
              <a:rPr lang="it-IT" dirty="0"/>
              <a:t> permette di ottimizzare l’utilizzo delle </a:t>
            </a:r>
            <a:r>
              <a:rPr lang="it-IT" dirty="0" smtClean="0"/>
              <a:t>risorse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8" y="5064615"/>
            <a:ext cx="501235" cy="469410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469" y="2473006"/>
            <a:ext cx="1098869" cy="1098869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220" y="2475519"/>
            <a:ext cx="1029682" cy="102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3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Obiettivi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Valutare la </a:t>
            </a:r>
            <a:r>
              <a:rPr lang="it-IT" dirty="0">
                <a:solidFill>
                  <a:srgbClr val="00C458"/>
                </a:solidFill>
              </a:rPr>
              <a:t>fattibilità</a:t>
            </a:r>
            <a:r>
              <a:rPr lang="it-IT" dirty="0"/>
              <a:t> dell’uso di modelli di </a:t>
            </a:r>
            <a:r>
              <a:rPr lang="it-IT" dirty="0">
                <a:solidFill>
                  <a:srgbClr val="00C458"/>
                </a:solidFill>
              </a:rPr>
              <a:t>Machine Learning </a:t>
            </a:r>
            <a:r>
              <a:rPr lang="it-IT" dirty="0" smtClean="0">
                <a:solidFill>
                  <a:srgbClr val="00C458"/>
                </a:solidFill>
              </a:rPr>
              <a:t>(ML) </a:t>
            </a:r>
            <a:r>
              <a:rPr lang="it-IT" dirty="0" smtClean="0"/>
              <a:t>per </a:t>
            </a:r>
            <a:r>
              <a:rPr lang="it-IT" dirty="0"/>
              <a:t>predire classi </a:t>
            </a:r>
            <a:r>
              <a:rPr lang="it-IT" i="1" dirty="0" err="1" smtClean="0">
                <a:solidFill>
                  <a:srgbClr val="00C458"/>
                </a:solidFill>
              </a:rPr>
              <a:t>buggy</a:t>
            </a:r>
            <a:endParaRPr lang="it-IT" i="1" dirty="0" smtClean="0">
              <a:solidFill>
                <a:srgbClr val="00C458"/>
              </a:solidFill>
            </a:endParaRPr>
          </a:p>
          <a:p>
            <a:r>
              <a:rPr lang="it-IT" dirty="0" smtClean="0"/>
              <a:t>Rendere </a:t>
            </a:r>
            <a:r>
              <a:rPr lang="it-IT" dirty="0"/>
              <a:t>il processo di </a:t>
            </a:r>
            <a:r>
              <a:rPr lang="it-IT" dirty="0" err="1"/>
              <a:t>testing</a:t>
            </a:r>
            <a:r>
              <a:rPr lang="it-IT" dirty="0"/>
              <a:t> </a:t>
            </a:r>
            <a:r>
              <a:rPr lang="it-IT" dirty="0">
                <a:solidFill>
                  <a:srgbClr val="00C458"/>
                </a:solidFill>
              </a:rPr>
              <a:t>più efficiente</a:t>
            </a:r>
            <a:r>
              <a:rPr lang="it-IT" dirty="0"/>
              <a:t>, concentrando gli sforzi sulle classi a maggior </a:t>
            </a:r>
            <a:r>
              <a:rPr lang="it-IT" dirty="0" smtClean="0"/>
              <a:t>rischio</a:t>
            </a:r>
          </a:p>
          <a:p>
            <a:r>
              <a:rPr lang="it-IT" dirty="0" smtClean="0"/>
              <a:t>Costruire modelli ML in grado di rispondere </a:t>
            </a:r>
            <a:r>
              <a:rPr lang="it-IT" dirty="0"/>
              <a:t>alla domanda</a:t>
            </a:r>
            <a:r>
              <a:rPr lang="it-IT" dirty="0" smtClean="0"/>
              <a:t>:</a:t>
            </a:r>
          </a:p>
          <a:p>
            <a:pPr marL="0" indent="0" algn="ctr">
              <a:buNone/>
            </a:pPr>
            <a:r>
              <a:rPr lang="it-IT" i="1" dirty="0" smtClean="0"/>
              <a:t>    “</a:t>
            </a:r>
            <a:r>
              <a:rPr lang="it-IT" i="1" dirty="0"/>
              <a:t>Questa classe sarà </a:t>
            </a:r>
            <a:r>
              <a:rPr lang="it-IT" i="1" dirty="0" err="1"/>
              <a:t>buggy</a:t>
            </a:r>
            <a:r>
              <a:rPr lang="it-IT" i="1" dirty="0"/>
              <a:t> nel prossimo rilascio</a:t>
            </a:r>
            <a:r>
              <a:rPr lang="it-IT" i="1" dirty="0" smtClean="0"/>
              <a:t>?”</a:t>
            </a:r>
          </a:p>
          <a:p>
            <a:pPr marL="0" indent="0" algn="ctr">
              <a:buNone/>
            </a:pPr>
            <a:endParaRPr lang="it-IT" i="1" dirty="0" smtClean="0"/>
          </a:p>
          <a:p>
            <a:r>
              <a:rPr lang="it-IT" dirty="0" smtClean="0"/>
              <a:t>Analizzare </a:t>
            </a:r>
            <a:r>
              <a:rPr lang="it-IT" dirty="0"/>
              <a:t>diverse </a:t>
            </a:r>
            <a:r>
              <a:rPr lang="it-IT" dirty="0" smtClean="0"/>
              <a:t>configurazioni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>
                <a:solidFill>
                  <a:srgbClr val="00C458"/>
                </a:solidFill>
              </a:rPr>
              <a:t>F</a:t>
            </a:r>
            <a:r>
              <a:rPr lang="it-IT" dirty="0" err="1" smtClean="0">
                <a:solidFill>
                  <a:srgbClr val="00C458"/>
                </a:solidFill>
              </a:rPr>
              <a:t>eature</a:t>
            </a:r>
            <a:r>
              <a:rPr lang="it-IT" dirty="0" smtClean="0">
                <a:solidFill>
                  <a:srgbClr val="00C458"/>
                </a:solidFill>
              </a:rPr>
              <a:t> </a:t>
            </a:r>
            <a:r>
              <a:rPr lang="it-IT" dirty="0" err="1" smtClean="0">
                <a:solidFill>
                  <a:srgbClr val="00C458"/>
                </a:solidFill>
              </a:rPr>
              <a:t>selection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 smtClean="0">
                <a:solidFill>
                  <a:srgbClr val="00C458"/>
                </a:solidFill>
              </a:rPr>
              <a:t>Balancing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err="1" smtClean="0">
                <a:solidFill>
                  <a:srgbClr val="00C458"/>
                </a:solidFill>
              </a:rPr>
              <a:t>Cost</a:t>
            </a:r>
            <a:r>
              <a:rPr lang="it-IT" dirty="0" smtClean="0">
                <a:solidFill>
                  <a:srgbClr val="00C458"/>
                </a:solidFill>
              </a:rPr>
              <a:t>-sensitive</a:t>
            </a:r>
            <a:endParaRPr lang="it-IT" dirty="0" smtClean="0"/>
          </a:p>
          <a:p>
            <a:r>
              <a:rPr lang="it-IT" dirty="0" smtClean="0"/>
              <a:t>Eseguire </a:t>
            </a:r>
            <a:r>
              <a:rPr lang="it-IT" dirty="0"/>
              <a:t>uno studio empirico su 2 progetti </a:t>
            </a:r>
            <a:r>
              <a:rPr lang="it-IT" dirty="0" smtClean="0"/>
              <a:t>open-source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>
                <a:solidFill>
                  <a:srgbClr val="00C458"/>
                </a:solidFill>
              </a:rPr>
              <a:t>Apache </a:t>
            </a:r>
            <a:r>
              <a:rPr lang="it-IT" dirty="0" err="1">
                <a:solidFill>
                  <a:srgbClr val="00C458"/>
                </a:solidFill>
              </a:rPr>
              <a:t>BookKeeper</a:t>
            </a:r>
            <a:r>
              <a:rPr lang="it-IT" dirty="0">
                <a:solidFill>
                  <a:srgbClr val="00C458"/>
                </a:solidFill>
              </a:rPr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>
                <a:solidFill>
                  <a:srgbClr val="00C458"/>
                </a:solidFill>
              </a:rPr>
              <a:t>Apache </a:t>
            </a:r>
            <a:r>
              <a:rPr lang="it-IT" dirty="0" err="1" smtClean="0">
                <a:solidFill>
                  <a:srgbClr val="00C458"/>
                </a:solidFill>
              </a:rPr>
              <a:t>Storm</a:t>
            </a:r>
            <a:endParaRPr lang="it-IT" dirty="0" smtClean="0">
              <a:solidFill>
                <a:srgbClr val="00C458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45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Assunzioni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>
                <a:solidFill>
                  <a:srgbClr val="00C458"/>
                </a:solidFill>
              </a:rPr>
              <a:t>Il futuro è simile al </a:t>
            </a:r>
            <a:r>
              <a:rPr lang="it-IT" b="1" dirty="0" smtClean="0">
                <a:solidFill>
                  <a:srgbClr val="00C458"/>
                </a:solidFill>
              </a:rPr>
              <a:t>passato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 smtClean="0"/>
              <a:t>Il </a:t>
            </a:r>
            <a:r>
              <a:rPr lang="it-IT" dirty="0"/>
              <a:t>comportamento evolutivo del software segue pattern appresi dai dati </a:t>
            </a:r>
            <a:r>
              <a:rPr lang="it-IT" dirty="0" smtClean="0"/>
              <a:t>storici</a:t>
            </a:r>
          </a:p>
          <a:p>
            <a:r>
              <a:rPr lang="it-IT" b="1" dirty="0" smtClean="0">
                <a:solidFill>
                  <a:srgbClr val="00C458"/>
                </a:solidFill>
              </a:rPr>
              <a:t>Linearità </a:t>
            </a:r>
            <a:r>
              <a:rPr lang="it-IT" b="1" dirty="0">
                <a:solidFill>
                  <a:srgbClr val="00C458"/>
                </a:solidFill>
              </a:rPr>
              <a:t>delle </a:t>
            </a:r>
            <a:r>
              <a:rPr lang="it-IT" b="1" dirty="0" smtClean="0">
                <a:solidFill>
                  <a:srgbClr val="00C458"/>
                </a:solidFill>
              </a:rPr>
              <a:t>release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S</a:t>
            </a:r>
            <a:r>
              <a:rPr lang="it-IT" dirty="0" smtClean="0"/>
              <a:t>i </a:t>
            </a:r>
            <a:r>
              <a:rPr lang="it-IT" dirty="0"/>
              <a:t>assume un ciclo evolutivo lineare, senza rami paralleli multipli presi in </a:t>
            </a:r>
            <a:r>
              <a:rPr lang="it-IT" dirty="0" smtClean="0"/>
              <a:t>analisi</a:t>
            </a:r>
          </a:p>
          <a:p>
            <a:r>
              <a:rPr lang="it-IT" b="1" dirty="0" err="1" smtClean="0">
                <a:solidFill>
                  <a:srgbClr val="00C458"/>
                </a:solidFill>
              </a:rPr>
              <a:t>Jira</a:t>
            </a:r>
            <a:r>
              <a:rPr lang="it-IT" b="1" dirty="0" smtClean="0">
                <a:solidFill>
                  <a:srgbClr val="00C458"/>
                </a:solidFill>
              </a:rPr>
              <a:t> </a:t>
            </a:r>
            <a:r>
              <a:rPr lang="it-IT" b="1" dirty="0">
                <a:solidFill>
                  <a:srgbClr val="00C458"/>
                </a:solidFill>
              </a:rPr>
              <a:t>come fonte completa dei </a:t>
            </a:r>
            <a:r>
              <a:rPr lang="it-IT" b="1" dirty="0" smtClean="0">
                <a:solidFill>
                  <a:srgbClr val="00C458"/>
                </a:solidFill>
              </a:rPr>
              <a:t>ticket</a:t>
            </a: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S</a:t>
            </a:r>
            <a:r>
              <a:rPr lang="it-IT" dirty="0" smtClean="0"/>
              <a:t>i </a:t>
            </a:r>
            <a:r>
              <a:rPr lang="it-IT" dirty="0"/>
              <a:t>assume che tutti i bug siano tracciati in </a:t>
            </a:r>
            <a:r>
              <a:rPr lang="it-IT" i="1" dirty="0" err="1" smtClean="0">
                <a:solidFill>
                  <a:srgbClr val="00C458"/>
                </a:solidFill>
              </a:rPr>
              <a:t>Jira</a:t>
            </a:r>
            <a:endParaRPr lang="it-IT" i="1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72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magin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9" y="3433107"/>
            <a:ext cx="1563105" cy="1417392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Raccolta Dati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29" y="1781999"/>
            <a:ext cx="1849988" cy="780631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53" y="1388904"/>
            <a:ext cx="1566823" cy="1566823"/>
          </a:xfrm>
          <a:prstGeom prst="rect">
            <a:avLst/>
          </a:prstGeom>
        </p:spPr>
      </p:pic>
      <p:cxnSp>
        <p:nvCxnSpPr>
          <p:cNvPr id="9" name="Connettore 2 8"/>
          <p:cNvCxnSpPr/>
          <p:nvPr/>
        </p:nvCxnSpPr>
        <p:spPr>
          <a:xfrm flipH="1">
            <a:off x="2962759" y="2764212"/>
            <a:ext cx="564290" cy="8753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/>
          <p:nvPr/>
        </p:nvCxnSpPr>
        <p:spPr>
          <a:xfrm>
            <a:off x="4310460" y="2764217"/>
            <a:ext cx="549925" cy="8753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/>
          <p:cNvCxnSpPr/>
          <p:nvPr/>
        </p:nvCxnSpPr>
        <p:spPr>
          <a:xfrm flipH="1">
            <a:off x="8323764" y="2768918"/>
            <a:ext cx="2" cy="9704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121" y="3873643"/>
            <a:ext cx="815286" cy="815286"/>
          </a:xfrm>
          <a:prstGeom prst="rect">
            <a:avLst/>
          </a:prstGeom>
        </p:spPr>
      </p:pic>
      <p:sp>
        <p:nvSpPr>
          <p:cNvPr id="18" name="CasellaDiTesto 17"/>
          <p:cNvSpPr txBox="1"/>
          <p:nvPr/>
        </p:nvSpPr>
        <p:spPr>
          <a:xfrm>
            <a:off x="7811658" y="4538485"/>
            <a:ext cx="9957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 smtClean="0">
                <a:latin typeface="ArialMT"/>
              </a:rPr>
              <a:t>Commit</a:t>
            </a:r>
            <a:endParaRPr lang="en-GB" sz="1700" b="1" dirty="0">
              <a:latin typeface="ArialMT"/>
            </a:endParaRPr>
          </a:p>
        </p:txBody>
      </p:sp>
      <p:pic>
        <p:nvPicPr>
          <p:cNvPr id="22" name="Immagin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779" y="3739336"/>
            <a:ext cx="1068919" cy="1068919"/>
          </a:xfrm>
          <a:prstGeom prst="rect">
            <a:avLst/>
          </a:prstGeom>
        </p:spPr>
      </p:pic>
      <p:sp>
        <p:nvSpPr>
          <p:cNvPr id="23" name="CasellaDiTesto 22"/>
          <p:cNvSpPr txBox="1"/>
          <p:nvPr/>
        </p:nvSpPr>
        <p:spPr>
          <a:xfrm>
            <a:off x="2196883" y="4719767"/>
            <a:ext cx="101181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b="1" dirty="0" smtClean="0">
                <a:latin typeface="ArialMT"/>
              </a:rPr>
              <a:t>Release</a:t>
            </a:r>
            <a:endParaRPr lang="en-GB" sz="1700" b="1" dirty="0">
              <a:latin typeface="ArialMT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3822782" y="4542791"/>
            <a:ext cx="277351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700" b="1" dirty="0" smtClean="0">
                <a:latin typeface="ArialMT"/>
              </a:rPr>
              <a:t>Ticket</a:t>
            </a:r>
          </a:p>
          <a:p>
            <a:endParaRPr lang="it-IT" sz="400" b="1" dirty="0">
              <a:latin typeface="ArialMT"/>
            </a:endParaRPr>
          </a:p>
          <a:p>
            <a:pPr algn="ctr"/>
            <a:r>
              <a:rPr lang="en-GB" sz="1700" i="1" dirty="0" smtClean="0">
                <a:latin typeface="ArialMT"/>
              </a:rPr>
              <a:t>bug</a:t>
            </a:r>
            <a:r>
              <a:rPr lang="en-GB" sz="1700" dirty="0">
                <a:latin typeface="ArialMT"/>
              </a:rPr>
              <a:t>, </a:t>
            </a:r>
            <a:r>
              <a:rPr lang="en-GB" sz="1700" i="1" dirty="0" smtClean="0">
                <a:latin typeface="ArialMT"/>
              </a:rPr>
              <a:t>closed/resolved</a:t>
            </a:r>
            <a:r>
              <a:rPr lang="en-GB" sz="1700" dirty="0" smtClean="0">
                <a:latin typeface="ArialMT"/>
              </a:rPr>
              <a:t>, </a:t>
            </a:r>
            <a:r>
              <a:rPr lang="en-GB" sz="1700" i="1" dirty="0" smtClean="0">
                <a:latin typeface="ArialMT"/>
              </a:rPr>
              <a:t>fixed</a:t>
            </a:r>
            <a:endParaRPr lang="en-GB" sz="1700" i="1" dirty="0">
              <a:latin typeface="ArialMT"/>
            </a:endParaRPr>
          </a:p>
        </p:txBody>
      </p:sp>
      <p:cxnSp>
        <p:nvCxnSpPr>
          <p:cNvPr id="32" name="Connettore 2 31"/>
          <p:cNvCxnSpPr/>
          <p:nvPr/>
        </p:nvCxnSpPr>
        <p:spPr>
          <a:xfrm flipV="1">
            <a:off x="9036634" y="4062022"/>
            <a:ext cx="530942" cy="4818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/>
          <p:cNvCxnSpPr/>
          <p:nvPr/>
        </p:nvCxnSpPr>
        <p:spPr>
          <a:xfrm flipV="1">
            <a:off x="9024180" y="4516458"/>
            <a:ext cx="668594" cy="18086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/>
          <p:cNvCxnSpPr/>
          <p:nvPr/>
        </p:nvCxnSpPr>
        <p:spPr>
          <a:xfrm>
            <a:off x="9024180" y="4837525"/>
            <a:ext cx="572892" cy="4726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magin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9571" y="5372713"/>
            <a:ext cx="499097" cy="499097"/>
          </a:xfrm>
          <a:prstGeom prst="rect">
            <a:avLst/>
          </a:prstGeom>
        </p:spPr>
      </p:pic>
      <p:sp>
        <p:nvSpPr>
          <p:cNvPr id="47" name="CasellaDiTesto 46"/>
          <p:cNvSpPr txBox="1"/>
          <p:nvPr/>
        </p:nvSpPr>
        <p:spPr>
          <a:xfrm rot="5400000">
            <a:off x="9294798" y="4724214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.....</a:t>
            </a:r>
          </a:p>
        </p:txBody>
      </p:sp>
      <p:pic>
        <p:nvPicPr>
          <p:cNvPr id="48" name="Immagine 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116" y="4144061"/>
            <a:ext cx="499097" cy="499097"/>
          </a:xfrm>
          <a:prstGeom prst="rect">
            <a:avLst/>
          </a:prstGeom>
        </p:spPr>
      </p:pic>
      <p:pic>
        <p:nvPicPr>
          <p:cNvPr id="49" name="Immagine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7072" y="3499108"/>
            <a:ext cx="499097" cy="499097"/>
          </a:xfrm>
          <a:prstGeom prst="rect">
            <a:avLst/>
          </a:prstGeom>
        </p:spPr>
      </p:pic>
      <p:sp>
        <p:nvSpPr>
          <p:cNvPr id="55" name="CasellaDiTesto 54"/>
          <p:cNvSpPr txBox="1"/>
          <p:nvPr/>
        </p:nvSpPr>
        <p:spPr>
          <a:xfrm rot="5400000">
            <a:off x="9837709" y="4870707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.....</a:t>
            </a:r>
          </a:p>
        </p:txBody>
      </p:sp>
      <p:cxnSp>
        <p:nvCxnSpPr>
          <p:cNvPr id="80" name="Connettore 7 79"/>
          <p:cNvCxnSpPr>
            <a:stCxn id="24" idx="2"/>
            <a:endCxn id="23" idx="2"/>
          </p:cNvCxnSpPr>
          <p:nvPr/>
        </p:nvCxnSpPr>
        <p:spPr>
          <a:xfrm rot="5400000" flipH="1">
            <a:off x="3883071" y="3893431"/>
            <a:ext cx="146189" cy="2506749"/>
          </a:xfrm>
          <a:prstGeom prst="curvedConnector3">
            <a:avLst>
              <a:gd name="adj1" fmla="val -23708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sellaDiTesto 86"/>
          <p:cNvSpPr txBox="1"/>
          <p:nvPr/>
        </p:nvSpPr>
        <p:spPr>
          <a:xfrm>
            <a:off x="3358166" y="5651235"/>
            <a:ext cx="11298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b="1" dirty="0" smtClean="0">
                <a:latin typeface="ArialMT"/>
              </a:rPr>
              <a:t>OV, FV, AV</a:t>
            </a:r>
            <a:endParaRPr lang="en-GB" sz="1500" b="1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71267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24" grpId="0"/>
      <p:bldP spid="47" grpId="0"/>
      <p:bldP spid="47" grpId="1"/>
      <p:bldP spid="55" grpId="0"/>
      <p:bldP spid="55" grpId="1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Ciclo</a:t>
            </a:r>
            <a:r>
              <a:rPr lang="en-GB" dirty="0" smtClean="0"/>
              <a:t> di Vita di un </a:t>
            </a:r>
            <a:r>
              <a:rPr lang="en-GB" dirty="0" err="1" smtClean="0"/>
              <a:t>Difetto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r>
              <a:rPr lang="it-IT" sz="1900" dirty="0"/>
              <a:t>Il difetto inizialmente non </a:t>
            </a:r>
            <a:r>
              <a:rPr lang="it-IT" sz="1900" dirty="0" smtClean="0"/>
              <a:t>esiste</a:t>
            </a:r>
          </a:p>
          <a:p>
            <a:r>
              <a:rPr lang="it-IT" sz="1900" dirty="0"/>
              <a:t>In una versione (non sempre nota) viene introdotto → </a:t>
            </a:r>
            <a:r>
              <a:rPr lang="it-IT" sz="1900" dirty="0" err="1">
                <a:solidFill>
                  <a:srgbClr val="00C458"/>
                </a:solidFill>
              </a:rPr>
              <a:t>Injected</a:t>
            </a:r>
            <a:r>
              <a:rPr lang="it-IT" sz="1900" dirty="0">
                <a:solidFill>
                  <a:srgbClr val="00C458"/>
                </a:solidFill>
              </a:rPr>
              <a:t> Version (IV</a:t>
            </a:r>
            <a:r>
              <a:rPr lang="it-IT" sz="1900" dirty="0" smtClean="0">
                <a:solidFill>
                  <a:srgbClr val="00C458"/>
                </a:solidFill>
              </a:rPr>
              <a:t>)</a:t>
            </a:r>
          </a:p>
          <a:p>
            <a:r>
              <a:rPr lang="it-IT" sz="1900" dirty="0"/>
              <a:t>Il difetto viene scoperto solo nella versione in cui viene aperto il ticket → </a:t>
            </a:r>
            <a:r>
              <a:rPr lang="it-IT" sz="1900" dirty="0">
                <a:solidFill>
                  <a:srgbClr val="00C458"/>
                </a:solidFill>
              </a:rPr>
              <a:t>Opening Version (OV</a:t>
            </a:r>
            <a:r>
              <a:rPr lang="it-IT" sz="1900" dirty="0" smtClean="0">
                <a:solidFill>
                  <a:srgbClr val="00C458"/>
                </a:solidFill>
              </a:rPr>
              <a:t>)</a:t>
            </a:r>
          </a:p>
          <a:p>
            <a:r>
              <a:rPr lang="it-IT" sz="1900" dirty="0" smtClean="0"/>
              <a:t>La </a:t>
            </a:r>
            <a:r>
              <a:rPr lang="it-IT" sz="1900" dirty="0"/>
              <a:t>prima release senza il difetto è la </a:t>
            </a:r>
            <a:r>
              <a:rPr lang="it-IT" sz="1900" dirty="0" err="1">
                <a:solidFill>
                  <a:srgbClr val="00C458"/>
                </a:solidFill>
              </a:rPr>
              <a:t>Fixed</a:t>
            </a:r>
            <a:r>
              <a:rPr lang="it-IT" sz="1900" dirty="0">
                <a:solidFill>
                  <a:srgbClr val="00C458"/>
                </a:solidFill>
              </a:rPr>
              <a:t> Version (FV</a:t>
            </a:r>
            <a:r>
              <a:rPr lang="it-IT" sz="1900" dirty="0" smtClean="0">
                <a:solidFill>
                  <a:srgbClr val="00C458"/>
                </a:solidFill>
              </a:rPr>
              <a:t>)</a:t>
            </a:r>
          </a:p>
          <a:p>
            <a:r>
              <a:rPr lang="it-IT" sz="1900" dirty="0" smtClean="0"/>
              <a:t>Tutte le versioni impattate dal difetto si chiamano</a:t>
            </a:r>
            <a:r>
              <a:rPr lang="it-IT" sz="1900" dirty="0" smtClean="0">
                <a:solidFill>
                  <a:srgbClr val="00C458"/>
                </a:solidFill>
              </a:rPr>
              <a:t> </a:t>
            </a:r>
            <a:r>
              <a:rPr lang="it-IT" sz="1900" dirty="0" err="1" smtClean="0">
                <a:solidFill>
                  <a:srgbClr val="00C458"/>
                </a:solidFill>
              </a:rPr>
              <a:t>Affected</a:t>
            </a:r>
            <a:r>
              <a:rPr lang="it-IT" sz="1900" dirty="0" smtClean="0">
                <a:solidFill>
                  <a:srgbClr val="00C458"/>
                </a:solidFill>
              </a:rPr>
              <a:t> </a:t>
            </a:r>
            <a:r>
              <a:rPr lang="it-IT" sz="1900" dirty="0" err="1" smtClean="0">
                <a:solidFill>
                  <a:srgbClr val="00C458"/>
                </a:solidFill>
              </a:rPr>
              <a:t>Versions</a:t>
            </a:r>
            <a:r>
              <a:rPr lang="it-IT" sz="1900" dirty="0" smtClean="0">
                <a:solidFill>
                  <a:srgbClr val="00C458"/>
                </a:solidFill>
              </a:rPr>
              <a:t> (AV) </a:t>
            </a:r>
            <a:r>
              <a:rPr lang="it-IT" sz="1900" dirty="0" smtClean="0"/>
              <a:t>→ </a:t>
            </a:r>
            <a:r>
              <a:rPr lang="it-IT" sz="1900" dirty="0">
                <a:solidFill>
                  <a:srgbClr val="00C458"/>
                </a:solidFill>
              </a:rPr>
              <a:t> </a:t>
            </a:r>
            <a:r>
              <a:rPr lang="it-IT" sz="1900" i="1" dirty="0"/>
              <a:t>IV = </a:t>
            </a:r>
            <a:r>
              <a:rPr lang="it-IT" sz="1900" i="1" dirty="0" err="1"/>
              <a:t>min</a:t>
            </a:r>
            <a:r>
              <a:rPr lang="it-IT" sz="1900" i="1" dirty="0"/>
              <a:t>(AV)</a:t>
            </a:r>
            <a:endParaRPr lang="it-IT" sz="1900" i="1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31" y="1583091"/>
            <a:ext cx="5974938" cy="230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Labeling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it-IT" dirty="0" smtClean="0"/>
                  <a:t>L’obiettivo è stimare la IV, </a:t>
                </a:r>
                <a:r>
                  <a:rPr lang="it-IT" dirty="0"/>
                  <a:t>quando non è esplicitamente </a:t>
                </a:r>
                <a:r>
                  <a:rPr lang="it-IT" dirty="0" smtClean="0"/>
                  <a:t>riportata nel ticket</a:t>
                </a:r>
              </a:p>
              <a:p>
                <a:pPr marL="0" indent="0">
                  <a:buNone/>
                </a:pPr>
                <a:r>
                  <a:rPr lang="it-IT" dirty="0" smtClean="0"/>
                  <a:t>    →  </a:t>
                </a:r>
                <a:r>
                  <a:rPr lang="it-IT" b="1" dirty="0" err="1" smtClean="0">
                    <a:solidFill>
                      <a:srgbClr val="00C458"/>
                    </a:solidFill>
                  </a:rPr>
                  <a:t>Proportion</a:t>
                </a:r>
                <a:r>
                  <a:rPr lang="it-IT" b="1" dirty="0" smtClean="0">
                    <a:solidFill>
                      <a:srgbClr val="00C458"/>
                    </a:solidFill>
                  </a:rPr>
                  <a:t> (</a:t>
                </a:r>
                <a:r>
                  <a:rPr lang="it-IT" b="1" dirty="0" err="1" smtClean="0">
                    <a:solidFill>
                      <a:srgbClr val="00C458"/>
                    </a:solidFill>
                  </a:rPr>
                  <a:t>Increment</a:t>
                </a:r>
                <a:r>
                  <a:rPr lang="it-IT" b="1" dirty="0" smtClean="0">
                    <a:solidFill>
                      <a:srgbClr val="00C458"/>
                    </a:solidFill>
                  </a:rPr>
                  <a:t>)</a:t>
                </a:r>
              </a:p>
              <a:p>
                <a:r>
                  <a:rPr lang="it-IT" dirty="0"/>
                  <a:t>Per i ticket con IV nota, si calcola la </a:t>
                </a:r>
                <a:r>
                  <a:rPr lang="it-IT" dirty="0" smtClean="0"/>
                  <a:t>proporzione</a:t>
                </a:r>
              </a:p>
              <a:p>
                <a:endParaRPr lang="it-IT" sz="1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𝐹𝑉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𝑂𝑉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dirty="0"/>
              </a:p>
              <a:p>
                <a:endParaRPr lang="it-IT" sz="700" dirty="0" smtClean="0"/>
              </a:p>
              <a:p>
                <a:r>
                  <a:rPr lang="it-IT" dirty="0"/>
                  <a:t>Il valore P viene mantenuto e aggiornato incrementalmente, come media dei valori dei ticket precedenti con IV </a:t>
                </a:r>
                <a:r>
                  <a:rPr lang="it-IT" dirty="0" smtClean="0"/>
                  <a:t>conosciuta</a:t>
                </a:r>
              </a:p>
              <a:p>
                <a:r>
                  <a:rPr lang="it-IT" dirty="0"/>
                  <a:t>Per ogni ticket senza </a:t>
                </a:r>
                <a:r>
                  <a:rPr lang="it-IT" dirty="0" smtClean="0"/>
                  <a:t>IV</a:t>
                </a:r>
                <a:r>
                  <a:rPr lang="it-IT" dirty="0"/>
                  <a:t> →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𝑠𝑡𝑖𝑚𝑎𝑡𝑎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𝐹𝑉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𝑂𝑉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 smtClean="0"/>
              </a:p>
              <a:p>
                <a:r>
                  <a:rPr lang="it-IT" u="sng" dirty="0"/>
                  <a:t>Una classe è considerata difettosa se toccata da un commit del bug in una versione compresa tra IV e FV</a:t>
                </a:r>
                <a:endParaRPr lang="it-IT" u="sng" dirty="0" smtClean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759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105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Metriche</a:t>
            </a:r>
            <a:r>
              <a:rPr lang="en-GB" dirty="0"/>
              <a:t> </a:t>
            </a:r>
            <a:r>
              <a:rPr lang="en-GB" dirty="0" err="1"/>
              <a:t>Estratte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300" dirty="0" smtClean="0"/>
              <a:t>Metriche di </a:t>
            </a:r>
            <a:r>
              <a:rPr lang="it-IT" sz="2300" dirty="0" smtClean="0">
                <a:solidFill>
                  <a:srgbClr val="00C458"/>
                </a:solidFill>
              </a:rPr>
              <a:t>classe</a:t>
            </a:r>
          </a:p>
          <a:p>
            <a:r>
              <a:rPr lang="it-IT" sz="2300" dirty="0" smtClean="0"/>
              <a:t>Calcolate per ogni release</a:t>
            </a:r>
            <a:endParaRPr lang="it-IT" sz="2300" dirty="0" smtClean="0">
              <a:solidFill>
                <a:srgbClr val="00C458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67" y="1802984"/>
            <a:ext cx="6022833" cy="3915247"/>
          </a:xfrm>
          <a:prstGeom prst="rect">
            <a:avLst/>
          </a:prstGeom>
        </p:spPr>
      </p:pic>
      <p:sp>
        <p:nvSpPr>
          <p:cNvPr id="7" name="Ovale 6"/>
          <p:cNvSpPr/>
          <p:nvPr/>
        </p:nvSpPr>
        <p:spPr>
          <a:xfrm>
            <a:off x="5119068" y="5419156"/>
            <a:ext cx="1330894" cy="381877"/>
          </a:xfrm>
          <a:prstGeom prst="ellipse">
            <a:avLst/>
          </a:prstGeom>
          <a:noFill/>
          <a:ln w="22225">
            <a:solidFill>
              <a:srgbClr val="00C4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ccia a destra 7"/>
          <p:cNvSpPr/>
          <p:nvPr/>
        </p:nvSpPr>
        <p:spPr>
          <a:xfrm rot="1410331">
            <a:off x="4084608" y="4950456"/>
            <a:ext cx="978408" cy="484632"/>
          </a:xfrm>
          <a:prstGeom prst="rightArrow">
            <a:avLst/>
          </a:prstGeom>
          <a:solidFill>
            <a:srgbClr val="00C458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llaDiTesto 8"/>
          <p:cNvSpPr txBox="1"/>
          <p:nvPr/>
        </p:nvSpPr>
        <p:spPr>
          <a:xfrm>
            <a:off x="1860462" y="4584511"/>
            <a:ext cx="216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latin typeface="ArialMT"/>
              </a:rPr>
              <a:t>Variabile</a:t>
            </a:r>
            <a:r>
              <a:rPr lang="en-GB" dirty="0">
                <a:latin typeface="ArialMT"/>
              </a:rPr>
              <a:t> </a:t>
            </a:r>
            <a:r>
              <a:rPr lang="en-GB" dirty="0" smtClean="0">
                <a:latin typeface="ArialMT"/>
              </a:rPr>
              <a:t>da </a:t>
            </a:r>
            <a:r>
              <a:rPr lang="en-GB" dirty="0" err="1">
                <a:latin typeface="ArialMT"/>
              </a:rPr>
              <a:t>predire</a:t>
            </a:r>
            <a:endParaRPr lang="en-GB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62979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Addestramento</a:t>
            </a:r>
            <a:r>
              <a:rPr lang="en-GB" dirty="0"/>
              <a:t> &amp; </a:t>
            </a:r>
            <a:r>
              <a:rPr lang="en-GB" dirty="0" err="1"/>
              <a:t>Valutazione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Vengono utilizzati modelli di Machine Learning </a:t>
            </a:r>
            <a:r>
              <a:rPr lang="it-IT" sz="2400" dirty="0" smtClean="0">
                <a:solidFill>
                  <a:srgbClr val="00C458"/>
                </a:solidFill>
              </a:rPr>
              <a:t>supervisionati</a:t>
            </a:r>
          </a:p>
          <a:p>
            <a:r>
              <a:rPr lang="it-IT" sz="2400" dirty="0" smtClean="0"/>
              <a:t>Il </a:t>
            </a:r>
            <a:r>
              <a:rPr lang="it-IT" sz="2400" dirty="0" err="1"/>
              <a:t>dataset</a:t>
            </a:r>
            <a:r>
              <a:rPr lang="it-IT" sz="2400" dirty="0"/>
              <a:t> viene </a:t>
            </a:r>
            <a:r>
              <a:rPr lang="it-IT" sz="2400" dirty="0" smtClean="0"/>
              <a:t>suddiviso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2000" dirty="0" smtClean="0">
                <a:solidFill>
                  <a:srgbClr val="00C458"/>
                </a:solidFill>
              </a:rPr>
              <a:t>Training Set </a:t>
            </a:r>
            <a:r>
              <a:rPr lang="it-IT" sz="2000" dirty="0"/>
              <a:t>→ per apprendere il </a:t>
            </a:r>
            <a:r>
              <a:rPr lang="it-IT" sz="2000" dirty="0" smtClean="0"/>
              <a:t>modello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2000" dirty="0" err="1" smtClean="0">
                <a:solidFill>
                  <a:srgbClr val="00C458"/>
                </a:solidFill>
              </a:rPr>
              <a:t>Testing</a:t>
            </a:r>
            <a:r>
              <a:rPr lang="it-IT" sz="2000" dirty="0" smtClean="0">
                <a:solidFill>
                  <a:srgbClr val="00C458"/>
                </a:solidFill>
              </a:rPr>
              <a:t> Set </a:t>
            </a:r>
            <a:r>
              <a:rPr lang="it-IT" sz="2000" dirty="0"/>
              <a:t>→ per valutarne le </a:t>
            </a:r>
            <a:r>
              <a:rPr lang="it-IT" sz="2000" dirty="0" smtClean="0"/>
              <a:t>performance</a:t>
            </a:r>
          </a:p>
          <a:p>
            <a:r>
              <a:rPr lang="it-IT" sz="2400" dirty="0" smtClean="0"/>
              <a:t>Poiché </a:t>
            </a:r>
            <a:r>
              <a:rPr lang="it-IT" sz="2400" dirty="0"/>
              <a:t>i dati evolvono nel tempo, si utilizza una validazione </a:t>
            </a:r>
            <a:r>
              <a:rPr lang="it-IT" sz="2400" b="1" dirty="0" err="1" smtClean="0">
                <a:solidFill>
                  <a:srgbClr val="00C458"/>
                </a:solidFill>
              </a:rPr>
              <a:t>walk-forward</a:t>
            </a:r>
            <a:endParaRPr lang="it-IT" sz="2400" dirty="0" smtClean="0"/>
          </a:p>
          <a:p>
            <a:r>
              <a:rPr lang="it-IT" sz="2400" dirty="0" smtClean="0"/>
              <a:t>Per </a:t>
            </a:r>
            <a:r>
              <a:rPr lang="it-IT" sz="2400" dirty="0"/>
              <a:t>limitare </a:t>
            </a:r>
            <a:r>
              <a:rPr lang="it-IT" sz="2400" dirty="0" smtClean="0"/>
              <a:t>lo </a:t>
            </a:r>
            <a:r>
              <a:rPr lang="it-IT" sz="2400" dirty="0" err="1">
                <a:solidFill>
                  <a:srgbClr val="00C458"/>
                </a:solidFill>
              </a:rPr>
              <a:t>snoring</a:t>
            </a:r>
            <a:r>
              <a:rPr lang="it-IT" sz="2400" dirty="0"/>
              <a:t>, </a:t>
            </a:r>
            <a:r>
              <a:rPr lang="it-IT" sz="2400" dirty="0" smtClean="0"/>
              <a:t>si </a:t>
            </a:r>
            <a:r>
              <a:rPr lang="it-IT" sz="2400" dirty="0"/>
              <a:t>considerano solo le prime metà delle </a:t>
            </a:r>
            <a:r>
              <a:rPr lang="it-IT" sz="2400" dirty="0" smtClean="0"/>
              <a:t>release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44" y="4270248"/>
            <a:ext cx="2879392" cy="17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77" y="4276420"/>
            <a:ext cx="4433299" cy="761170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377" y="2340864"/>
            <a:ext cx="3927871" cy="713232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L’obiettivo è stabilire, per ogni release, se una classe è </a:t>
            </a:r>
            <a:r>
              <a:rPr lang="it-IT" dirty="0" err="1">
                <a:solidFill>
                  <a:srgbClr val="00C458"/>
                </a:solidFill>
              </a:rPr>
              <a:t>buggy</a:t>
            </a:r>
            <a:r>
              <a:rPr lang="it-IT" dirty="0"/>
              <a:t> o </a:t>
            </a:r>
            <a:r>
              <a:rPr lang="it-IT" dirty="0" smtClean="0"/>
              <a:t>meno</a:t>
            </a:r>
          </a:p>
          <a:p>
            <a:r>
              <a:rPr lang="it-IT" dirty="0" smtClean="0"/>
              <a:t>Alla i-esima release: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i="1" dirty="0" smtClean="0">
                <a:solidFill>
                  <a:srgbClr val="00C458"/>
                </a:solidFill>
              </a:rPr>
              <a:t>Training Set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Deve risultare </a:t>
            </a:r>
            <a:r>
              <a:rPr lang="it-IT" u="sng" dirty="0" smtClean="0"/>
              <a:t>realistico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Etichettatura </a:t>
            </a:r>
            <a:r>
              <a:rPr lang="it-IT" dirty="0"/>
              <a:t>basata su ticket con FV ≤ (i-1</a:t>
            </a:r>
            <a:r>
              <a:rPr lang="it-IT" dirty="0" smtClean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Dai </a:t>
            </a:r>
            <a:r>
              <a:rPr lang="it-IT" dirty="0"/>
              <a:t>commit associati ai ticket si estraggono le classi </a:t>
            </a:r>
            <a:r>
              <a:rPr lang="it-IT" dirty="0" smtClean="0"/>
              <a:t>modificate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Le </a:t>
            </a:r>
            <a:r>
              <a:rPr lang="it-IT" dirty="0"/>
              <a:t>classi modificate vengono etichettate come </a:t>
            </a:r>
            <a:r>
              <a:rPr lang="it-IT" dirty="0" err="1" smtClean="0"/>
              <a:t>buggy</a:t>
            </a:r>
            <a:endParaRPr lang="it-IT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/>
              <a:t>P</a:t>
            </a:r>
            <a:r>
              <a:rPr lang="it-IT" dirty="0" smtClean="0"/>
              <a:t>uò soffrire </a:t>
            </a:r>
            <a:r>
              <a:rPr lang="it-IT" dirty="0"/>
              <a:t>di </a:t>
            </a:r>
            <a:r>
              <a:rPr lang="it-IT" dirty="0" err="1" smtClean="0"/>
              <a:t>snoring</a:t>
            </a:r>
            <a:endParaRPr lang="it-IT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i="1" dirty="0" err="1" smtClean="0">
                <a:solidFill>
                  <a:srgbClr val="00C458"/>
                </a:solidFill>
              </a:rPr>
              <a:t>Testing</a:t>
            </a:r>
            <a:r>
              <a:rPr lang="it-IT" i="1" dirty="0" smtClean="0">
                <a:solidFill>
                  <a:srgbClr val="00C458"/>
                </a:solidFill>
              </a:rPr>
              <a:t> Set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Deve essere il più </a:t>
            </a:r>
            <a:r>
              <a:rPr lang="it-IT" u="sng" dirty="0" smtClean="0"/>
              <a:t>corretto</a:t>
            </a:r>
            <a:r>
              <a:rPr lang="it-IT" dirty="0" smtClean="0"/>
              <a:t> possibile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 smtClean="0"/>
              <a:t>Etichettatura </a:t>
            </a:r>
            <a:r>
              <a:rPr lang="it-IT" dirty="0"/>
              <a:t>basata su tutti i ticket disponibili fino al momento attuale (fino alla n-esima release</a:t>
            </a:r>
            <a:r>
              <a:rPr lang="it-IT" dirty="0" smtClean="0"/>
              <a:t>)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Variabile Target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69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Modelli e Tecniche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sz="1800" dirty="0" smtClean="0"/>
          </a:p>
          <a:p>
            <a:r>
              <a:rPr lang="it-IT" dirty="0" smtClean="0"/>
              <a:t>Sono state valutate tutte le possibili combinazioni</a:t>
            </a:r>
            <a:endParaRPr lang="it-IT" dirty="0" smtClean="0">
              <a:solidFill>
                <a:srgbClr val="00C458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Rettangolo arrotondato 5"/>
          <p:cNvSpPr/>
          <p:nvPr/>
        </p:nvSpPr>
        <p:spPr>
          <a:xfrm>
            <a:off x="3903473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asellaDiTesto 8"/>
          <p:cNvSpPr txBox="1"/>
          <p:nvPr/>
        </p:nvSpPr>
        <p:spPr>
          <a:xfrm>
            <a:off x="3931685" y="1839376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 smtClean="0">
                <a:latin typeface="ArialMT"/>
              </a:rPr>
              <a:t>Feature</a:t>
            </a:r>
            <a:r>
              <a:rPr lang="it-IT" sz="1400" b="1" dirty="0" smtClean="0">
                <a:latin typeface="ArialMT"/>
              </a:rPr>
              <a:t> </a:t>
            </a:r>
            <a:r>
              <a:rPr lang="it-IT" sz="1400" b="1" dirty="0" err="1" smtClean="0">
                <a:latin typeface="ArialMT"/>
              </a:rPr>
              <a:t>Selection</a:t>
            </a:r>
            <a:endParaRPr lang="en-GB" sz="1400" b="1" dirty="0">
              <a:latin typeface="ArialMT"/>
            </a:endParaRPr>
          </a:p>
        </p:txBody>
      </p:sp>
      <p:sp>
        <p:nvSpPr>
          <p:cNvPr id="12" name="Rettangolo arrotondato 11"/>
          <p:cNvSpPr/>
          <p:nvPr/>
        </p:nvSpPr>
        <p:spPr>
          <a:xfrm>
            <a:off x="1279037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ttangolo arrotondato 12"/>
          <p:cNvSpPr/>
          <p:nvPr/>
        </p:nvSpPr>
        <p:spPr>
          <a:xfrm>
            <a:off x="6527909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arrotondato 13"/>
          <p:cNvSpPr/>
          <p:nvPr/>
        </p:nvSpPr>
        <p:spPr>
          <a:xfrm>
            <a:off x="9152345" y="1725876"/>
            <a:ext cx="1703671" cy="564568"/>
          </a:xfrm>
          <a:prstGeom prst="roundRect">
            <a:avLst/>
          </a:prstGeom>
          <a:solidFill>
            <a:srgbClr val="00EE6C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/>
          <p:cNvSpPr txBox="1"/>
          <p:nvPr/>
        </p:nvSpPr>
        <p:spPr>
          <a:xfrm>
            <a:off x="1468342" y="1848520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smtClean="0">
                <a:latin typeface="ArialMT"/>
              </a:rPr>
              <a:t>Classificatori</a:t>
            </a:r>
            <a:endParaRPr lang="en-GB" sz="1400" b="1" dirty="0">
              <a:latin typeface="ArialMT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6860210" y="1839375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 smtClean="0">
                <a:latin typeface="ArialMT"/>
              </a:rPr>
              <a:t>Balancing</a:t>
            </a:r>
            <a:endParaRPr lang="en-GB" sz="1400" b="1" dirty="0">
              <a:latin typeface="ArialMT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9240990" y="1835983"/>
            <a:ext cx="1526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 err="1" smtClean="0">
                <a:latin typeface="ArialMT"/>
              </a:rPr>
              <a:t>Cost</a:t>
            </a:r>
            <a:r>
              <a:rPr lang="it-IT" sz="1400" b="1" dirty="0" smtClean="0">
                <a:latin typeface="ArialMT"/>
              </a:rPr>
              <a:t> </a:t>
            </a:r>
            <a:r>
              <a:rPr lang="it-IT" sz="1400" b="1" dirty="0" err="1" smtClean="0">
                <a:latin typeface="ArialMT"/>
              </a:rPr>
              <a:t>Sensitivity</a:t>
            </a:r>
            <a:endParaRPr lang="en-GB" sz="1400" b="1" dirty="0">
              <a:latin typeface="ArialMT"/>
            </a:endParaRPr>
          </a:p>
        </p:txBody>
      </p:sp>
      <p:sp>
        <p:nvSpPr>
          <p:cNvPr id="15" name="Rettangolo arrotondato 14"/>
          <p:cNvSpPr/>
          <p:nvPr/>
        </p:nvSpPr>
        <p:spPr>
          <a:xfrm>
            <a:off x="1279037" y="249841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ttangolo arrotondato 15"/>
          <p:cNvSpPr/>
          <p:nvPr/>
        </p:nvSpPr>
        <p:spPr>
          <a:xfrm>
            <a:off x="1285118" y="3275436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ttangolo arrotondato 16"/>
          <p:cNvSpPr/>
          <p:nvPr/>
        </p:nvSpPr>
        <p:spPr>
          <a:xfrm>
            <a:off x="1285118" y="404797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arrotondato 17"/>
          <p:cNvSpPr/>
          <p:nvPr/>
        </p:nvSpPr>
        <p:spPr>
          <a:xfrm>
            <a:off x="3903473" y="2498533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tangolo arrotondato 18"/>
          <p:cNvSpPr/>
          <p:nvPr/>
        </p:nvSpPr>
        <p:spPr>
          <a:xfrm>
            <a:off x="3903472" y="3270451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ttangolo arrotondato 19"/>
          <p:cNvSpPr/>
          <p:nvPr/>
        </p:nvSpPr>
        <p:spPr>
          <a:xfrm>
            <a:off x="6527907" y="249841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ttangolo arrotondato 20"/>
          <p:cNvSpPr/>
          <p:nvPr/>
        </p:nvSpPr>
        <p:spPr>
          <a:xfrm>
            <a:off x="6527907" y="3270451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ttangolo arrotondato 21"/>
          <p:cNvSpPr/>
          <p:nvPr/>
        </p:nvSpPr>
        <p:spPr>
          <a:xfrm>
            <a:off x="9152345" y="2498410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ttangolo arrotondato 22"/>
          <p:cNvSpPr/>
          <p:nvPr/>
        </p:nvSpPr>
        <p:spPr>
          <a:xfrm>
            <a:off x="9152345" y="3270451"/>
            <a:ext cx="1703671" cy="564568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asellaDiTesto 23"/>
          <p:cNvSpPr txBox="1"/>
          <p:nvPr/>
        </p:nvSpPr>
        <p:spPr>
          <a:xfrm>
            <a:off x="1413839" y="2627425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Random </a:t>
            </a:r>
            <a:r>
              <a:rPr lang="it-IT" sz="1400" dirty="0" err="1" smtClean="0">
                <a:latin typeface="ArialMT"/>
              </a:rPr>
              <a:t>Forest</a:t>
            </a:r>
            <a:endParaRPr lang="en-GB" sz="1400" dirty="0">
              <a:latin typeface="ArialMT"/>
            </a:endParaRPr>
          </a:p>
        </p:txBody>
      </p:sp>
      <p:sp>
        <p:nvSpPr>
          <p:cNvPr id="25" name="CasellaDiTesto 24"/>
          <p:cNvSpPr txBox="1"/>
          <p:nvPr/>
        </p:nvSpPr>
        <p:spPr>
          <a:xfrm>
            <a:off x="1526851" y="3398845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 smtClean="0">
                <a:latin typeface="ArialMT"/>
              </a:rPr>
              <a:t>Naive</a:t>
            </a:r>
            <a:r>
              <a:rPr lang="it-IT" sz="1400" dirty="0" smtClean="0">
                <a:latin typeface="ArialMT"/>
              </a:rPr>
              <a:t> </a:t>
            </a:r>
            <a:r>
              <a:rPr lang="it-IT" sz="1400" dirty="0" err="1" smtClean="0">
                <a:latin typeface="ArialMT"/>
              </a:rPr>
              <a:t>Bayes</a:t>
            </a:r>
            <a:endParaRPr lang="en-GB" sz="1400" dirty="0">
              <a:latin typeface="ArialMT"/>
            </a:endParaRPr>
          </a:p>
        </p:txBody>
      </p:sp>
      <p:sp>
        <p:nvSpPr>
          <p:cNvPr id="26" name="CasellaDiTesto 25"/>
          <p:cNvSpPr txBox="1"/>
          <p:nvPr/>
        </p:nvSpPr>
        <p:spPr>
          <a:xfrm>
            <a:off x="1885122" y="4176365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IBK</a:t>
            </a:r>
            <a:endParaRPr lang="en-GB" sz="1400" dirty="0">
              <a:latin typeface="ArialMT"/>
            </a:endParaRPr>
          </a:p>
        </p:txBody>
      </p:sp>
      <p:sp>
        <p:nvSpPr>
          <p:cNvPr id="27" name="CasellaDiTesto 26"/>
          <p:cNvSpPr txBox="1"/>
          <p:nvPr/>
        </p:nvSpPr>
        <p:spPr>
          <a:xfrm>
            <a:off x="4168929" y="2626466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No </a:t>
            </a:r>
            <a:r>
              <a:rPr lang="it-IT" sz="1400" dirty="0" err="1" smtClean="0">
                <a:latin typeface="ArialMT"/>
              </a:rPr>
              <a:t>Selection</a:t>
            </a:r>
            <a:endParaRPr lang="en-GB" sz="1400" dirty="0">
              <a:latin typeface="ArialMT"/>
            </a:endParaRPr>
          </a:p>
        </p:txBody>
      </p:sp>
      <p:sp>
        <p:nvSpPr>
          <p:cNvPr id="28" name="CasellaDiTesto 27"/>
          <p:cNvSpPr txBox="1"/>
          <p:nvPr/>
        </p:nvSpPr>
        <p:spPr>
          <a:xfrm>
            <a:off x="4298772" y="3389314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Best First</a:t>
            </a:r>
            <a:endParaRPr lang="en-GB" sz="1400" dirty="0">
              <a:latin typeface="ArialMT"/>
            </a:endParaRPr>
          </a:p>
        </p:txBody>
      </p:sp>
      <p:sp>
        <p:nvSpPr>
          <p:cNvPr id="29" name="CasellaDiTesto 28"/>
          <p:cNvSpPr txBox="1"/>
          <p:nvPr/>
        </p:nvSpPr>
        <p:spPr>
          <a:xfrm>
            <a:off x="6772768" y="2626466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No </a:t>
            </a:r>
            <a:r>
              <a:rPr lang="it-IT" sz="1400" dirty="0" err="1" smtClean="0">
                <a:latin typeface="ArialMT"/>
              </a:rPr>
              <a:t>Sampling</a:t>
            </a:r>
            <a:endParaRPr lang="en-GB" sz="1400" dirty="0">
              <a:latin typeface="ArialMT"/>
            </a:endParaRPr>
          </a:p>
        </p:txBody>
      </p:sp>
      <p:sp>
        <p:nvSpPr>
          <p:cNvPr id="30" name="CasellaDiTesto 29"/>
          <p:cNvSpPr txBox="1"/>
          <p:nvPr/>
        </p:nvSpPr>
        <p:spPr>
          <a:xfrm>
            <a:off x="6966731" y="3398845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SMOTE</a:t>
            </a:r>
            <a:endParaRPr lang="en-GB" sz="1400" dirty="0">
              <a:latin typeface="ArialMT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9209144" y="2626466"/>
            <a:ext cx="1609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No </a:t>
            </a:r>
            <a:r>
              <a:rPr lang="it-IT" sz="1400" dirty="0" err="1" smtClean="0">
                <a:latin typeface="ArialMT"/>
              </a:rPr>
              <a:t>Cost</a:t>
            </a:r>
            <a:r>
              <a:rPr lang="it-IT" sz="1400" dirty="0" smtClean="0">
                <a:latin typeface="ArialMT"/>
              </a:rPr>
              <a:t> Sensitive</a:t>
            </a:r>
            <a:endParaRPr lang="en-GB" sz="1400" dirty="0">
              <a:latin typeface="ArialMT"/>
            </a:endParaRPr>
          </a:p>
        </p:txBody>
      </p:sp>
      <p:sp>
        <p:nvSpPr>
          <p:cNvPr id="32" name="CasellaDiTesto 31"/>
          <p:cNvSpPr txBox="1"/>
          <p:nvPr/>
        </p:nvSpPr>
        <p:spPr>
          <a:xfrm>
            <a:off x="9271661" y="3396030"/>
            <a:ext cx="1484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latin typeface="ArialMT"/>
              </a:rPr>
              <a:t>CFN = 10 * CFP</a:t>
            </a:r>
            <a:endParaRPr lang="en-GB" sz="1400" dirty="0">
              <a:latin typeface="ArialMT"/>
            </a:endParaRPr>
          </a:p>
        </p:txBody>
      </p:sp>
      <p:cxnSp>
        <p:nvCxnSpPr>
          <p:cNvPr id="34" name="Connettore diritto 33"/>
          <p:cNvCxnSpPr>
            <a:stCxn id="12" idx="2"/>
            <a:endCxn id="15" idx="0"/>
          </p:cNvCxnSpPr>
          <p:nvPr/>
        </p:nvCxnSpPr>
        <p:spPr>
          <a:xfrm>
            <a:off x="2130873" y="2290444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/>
          <p:cNvCxnSpPr/>
          <p:nvPr/>
        </p:nvCxnSpPr>
        <p:spPr>
          <a:xfrm>
            <a:off x="2122527" y="3062978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/>
          <p:cNvCxnSpPr/>
          <p:nvPr/>
        </p:nvCxnSpPr>
        <p:spPr>
          <a:xfrm>
            <a:off x="2134547" y="3835019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/>
          <p:cNvCxnSpPr/>
          <p:nvPr/>
        </p:nvCxnSpPr>
        <p:spPr>
          <a:xfrm>
            <a:off x="4778004" y="3062485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/>
          <p:cNvCxnSpPr>
            <a:stCxn id="6" idx="2"/>
            <a:endCxn id="18" idx="0"/>
          </p:cNvCxnSpPr>
          <p:nvPr/>
        </p:nvCxnSpPr>
        <p:spPr>
          <a:xfrm>
            <a:off x="4755309" y="2290444"/>
            <a:ext cx="0" cy="20808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diritto 40"/>
          <p:cNvCxnSpPr>
            <a:stCxn id="13" idx="2"/>
            <a:endCxn id="20" idx="0"/>
          </p:cNvCxnSpPr>
          <p:nvPr/>
        </p:nvCxnSpPr>
        <p:spPr>
          <a:xfrm flipH="1">
            <a:off x="7379743" y="2290444"/>
            <a:ext cx="2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diritto 42"/>
          <p:cNvCxnSpPr>
            <a:stCxn id="14" idx="2"/>
            <a:endCxn id="22" idx="0"/>
          </p:cNvCxnSpPr>
          <p:nvPr/>
        </p:nvCxnSpPr>
        <p:spPr>
          <a:xfrm>
            <a:off x="10004181" y="2290444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diritto 43"/>
          <p:cNvCxnSpPr/>
          <p:nvPr/>
        </p:nvCxnSpPr>
        <p:spPr>
          <a:xfrm>
            <a:off x="7402168" y="3067882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diritto 44"/>
          <p:cNvCxnSpPr/>
          <p:nvPr/>
        </p:nvCxnSpPr>
        <p:spPr>
          <a:xfrm>
            <a:off x="10014012" y="3062966"/>
            <a:ext cx="0" cy="2079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53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Valutazione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it-IT" dirty="0" smtClean="0"/>
                  <a:t>Metriche utilizzate per ogni classificatore:</a:t>
                </a:r>
              </a:p>
              <a:p>
                <a:endParaRPr lang="it-IT" sz="300" dirty="0" smtClean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rgbClr val="00C458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b="0" i="1" smtClean="0">
                        <a:solidFill>
                          <a:srgbClr val="00C458"/>
                        </a:solidFill>
                        <a:latin typeface="Cambria Math" panose="02040503050406030204" pitchFamily="18" charset="0"/>
                      </a:rPr>
                      <m:t>1=2∗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it-IT" dirty="0" smtClean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050" dirty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dirty="0" smtClean="0">
                    <a:solidFill>
                      <a:srgbClr val="00C458"/>
                    </a:solidFill>
                  </a:rPr>
                  <a:t>AUC</a:t>
                </a:r>
                <a:r>
                  <a:rPr lang="it-IT" dirty="0" smtClean="0"/>
                  <a:t> </a:t>
                </a:r>
                <a:r>
                  <a:rPr lang="it-IT" dirty="0"/>
                  <a:t>– probabilità che un esempio positivo scelto a caso sia classificato con punteggio più alto di un esempio negativo scelto a </a:t>
                </a:r>
                <a:r>
                  <a:rPr lang="it-IT" dirty="0" smtClean="0"/>
                  <a:t>caso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000" dirty="0" smtClean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rgbClr val="00C458"/>
                        </a:solidFill>
                        <a:latin typeface="Cambria Math" panose="02040503050406030204" pitchFamily="18" charset="0"/>
                      </a:rPr>
                      <m:t>𝑀𝐶𝐶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𝐹𝑁</m:t>
                            </m:r>
                            <m:r>
                              <a:rPr lang="it-I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it-IT" dirty="0" smtClean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000" dirty="0" smtClean="0">
                  <a:solidFill>
                    <a:srgbClr val="00C458"/>
                  </a:solidFill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dirty="0" smtClean="0">
                    <a:solidFill>
                      <a:srgbClr val="00C458"/>
                    </a:solidFill>
                  </a:rPr>
                  <a:t>NPofB25</a:t>
                </a:r>
                <a:r>
                  <a:rPr lang="it-IT" dirty="0" smtClean="0"/>
                  <a:t> </a:t>
                </a:r>
                <a:r>
                  <a:rPr lang="it-IT" dirty="0"/>
                  <a:t>– percentuale di bug individuati analizzando il 25% del codice più “a rischio”, considerando la probabilità di difettosità normalizzata per la dimensione delle </a:t>
                </a:r>
                <a:r>
                  <a:rPr lang="it-IT" dirty="0" smtClean="0"/>
                  <a:t>entità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it-IT" sz="1200" dirty="0" smtClean="0"/>
              </a:p>
              <a:p>
                <a:r>
                  <a:rPr lang="it-IT" dirty="0" smtClean="0"/>
                  <a:t>Calcolate tramite </a:t>
                </a:r>
                <a:r>
                  <a:rPr lang="it-IT" b="1" dirty="0" smtClean="0">
                    <a:solidFill>
                      <a:srgbClr val="00C458"/>
                    </a:solidFill>
                  </a:rPr>
                  <a:t>ACUME </a:t>
                </a:r>
                <a:r>
                  <a:rPr lang="it-IT" dirty="0" smtClean="0"/>
                  <a:t>(</a:t>
                </a:r>
                <a:r>
                  <a:rPr lang="it-IT" i="1" dirty="0"/>
                  <a:t>https://github.com/</a:t>
                </a:r>
                <a:r>
                  <a:rPr lang="it-IT" i="1" dirty="0" err="1"/>
                  <a:t>jonidacarka</a:t>
                </a:r>
                <a:r>
                  <a:rPr lang="it-IT" i="1" dirty="0"/>
                  <a:t>/ACUME</a:t>
                </a:r>
                <a:r>
                  <a:rPr lang="it-IT" dirty="0" smtClean="0"/>
                  <a:t>)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2706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69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 smtClean="0"/>
              <a:t>– BOOKKEEPER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0" y="1408176"/>
            <a:ext cx="9192061" cy="478793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CasellaDiTesto 9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269347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BOOKKEEPER (2)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20" y="1409990"/>
            <a:ext cx="917380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sellaDiTesto 7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2358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BOOKKEEPER (3)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79" y="1410590"/>
            <a:ext cx="915860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12421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BOOKKEEPER (4)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04" y="1408077"/>
            <a:ext cx="9178198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89881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06" y="1402806"/>
            <a:ext cx="9182598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09310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 (2)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40" y="1403966"/>
            <a:ext cx="917819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63375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 (3)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20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1" y="1402810"/>
            <a:ext cx="9158609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36398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</a:t>
            </a:r>
            <a:r>
              <a:rPr lang="en-GB" dirty="0"/>
              <a:t>– </a:t>
            </a:r>
            <a:r>
              <a:rPr lang="en-GB" dirty="0" smtClean="0"/>
              <a:t>STORM (4)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21</a:t>
            </a:fld>
            <a:endParaRPr lang="en-GB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40" y="1403968"/>
            <a:ext cx="9154234" cy="478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sellaDiTesto 5"/>
          <p:cNvSpPr txBox="1"/>
          <p:nvPr/>
        </p:nvSpPr>
        <p:spPr>
          <a:xfrm>
            <a:off x="10422194" y="1927123"/>
            <a:ext cx="5822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" dirty="0" smtClean="0">
                <a:latin typeface="ArialMT"/>
              </a:rPr>
              <a:t>Ciao</a:t>
            </a:r>
            <a:endParaRPr lang="en-GB" sz="15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28459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Conclusioni </a:t>
            </a:r>
            <a:r>
              <a:rPr lang="en-GB" dirty="0"/>
              <a:t>– </a:t>
            </a:r>
            <a:r>
              <a:rPr lang="en-GB" dirty="0" smtClean="0"/>
              <a:t>BOOKKEEPER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A</a:t>
            </a:r>
            <a:endParaRPr lang="it-IT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778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Conclusioni </a:t>
            </a:r>
            <a:r>
              <a:rPr lang="en-GB" dirty="0"/>
              <a:t>– </a:t>
            </a:r>
            <a:r>
              <a:rPr lang="en-GB" dirty="0" smtClean="0"/>
              <a:t>STORM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A</a:t>
            </a:r>
            <a:endParaRPr lang="it-IT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412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Minacce alla Validità e Limiti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Possibili </a:t>
            </a:r>
            <a:r>
              <a:rPr lang="it-IT" dirty="0"/>
              <a:t>errori nella mappatura ticket–commit → etichette non sempre </a:t>
            </a:r>
            <a:r>
              <a:rPr lang="it-IT" dirty="0" smtClean="0"/>
              <a:t>affidabili</a:t>
            </a:r>
          </a:p>
          <a:p>
            <a:r>
              <a:rPr lang="it-IT" dirty="0" smtClean="0"/>
              <a:t>Le </a:t>
            </a:r>
            <a:r>
              <a:rPr lang="it-IT" dirty="0"/>
              <a:t>metriche usate potrebbero non riflettere davvero la “</a:t>
            </a:r>
            <a:r>
              <a:rPr lang="it-IT" dirty="0" err="1"/>
              <a:t>bugginess</a:t>
            </a:r>
            <a:r>
              <a:rPr lang="it-IT" dirty="0" smtClean="0"/>
              <a:t>”</a:t>
            </a:r>
          </a:p>
          <a:p>
            <a:r>
              <a:rPr lang="it-IT" dirty="0" smtClean="0"/>
              <a:t>Fattori </a:t>
            </a:r>
            <a:r>
              <a:rPr lang="it-IT" dirty="0"/>
              <a:t>esterni (team, esperienza, pratiche) possono influenzare i </a:t>
            </a:r>
            <a:r>
              <a:rPr lang="it-IT" dirty="0" smtClean="0"/>
              <a:t>risultati</a:t>
            </a:r>
          </a:p>
          <a:p>
            <a:r>
              <a:rPr lang="it-IT" dirty="0" smtClean="0"/>
              <a:t>I </a:t>
            </a:r>
            <a:r>
              <a:rPr lang="it-IT" dirty="0" err="1"/>
              <a:t>repository</a:t>
            </a:r>
            <a:r>
              <a:rPr lang="it-IT" dirty="0"/>
              <a:t> analizzati potrebbero non rappresentare altri progetti </a:t>
            </a:r>
            <a:r>
              <a:rPr lang="it-IT" dirty="0" smtClean="0"/>
              <a:t>software</a:t>
            </a:r>
          </a:p>
          <a:p>
            <a:r>
              <a:rPr lang="it-IT" dirty="0" err="1" smtClean="0"/>
              <a:t>Dataset</a:t>
            </a:r>
            <a:r>
              <a:rPr lang="it-IT" dirty="0" smtClean="0"/>
              <a:t> </a:t>
            </a:r>
            <a:r>
              <a:rPr lang="it-IT" dirty="0"/>
              <a:t>potenzialmente piccoli → risultati non sempre statisticamente </a:t>
            </a:r>
            <a:r>
              <a:rPr lang="it-IT" dirty="0" smtClean="0"/>
              <a:t>significativi</a:t>
            </a:r>
          </a:p>
          <a:p>
            <a:r>
              <a:rPr lang="it-IT" dirty="0" smtClean="0"/>
              <a:t>L’approccio </a:t>
            </a:r>
            <a:r>
              <a:rPr lang="it-IT" dirty="0" err="1" smtClean="0"/>
              <a:t>Increment</a:t>
            </a:r>
            <a:r>
              <a:rPr lang="it-IT" dirty="0" smtClean="0"/>
              <a:t> adottato </a:t>
            </a:r>
            <a:r>
              <a:rPr lang="it-IT" dirty="0"/>
              <a:t>è conservativo → possibile sottostima delle </a:t>
            </a:r>
            <a:r>
              <a:rPr lang="it-IT" dirty="0" smtClean="0"/>
              <a:t>performance</a:t>
            </a:r>
          </a:p>
          <a:p>
            <a:r>
              <a:rPr lang="it-IT" dirty="0" smtClean="0"/>
              <a:t>Dipendenza </a:t>
            </a:r>
            <a:r>
              <a:rPr lang="it-IT" dirty="0"/>
              <a:t>da strumenti (</a:t>
            </a:r>
            <a:r>
              <a:rPr lang="it-IT" dirty="0" err="1"/>
              <a:t>Jira</a:t>
            </a:r>
            <a:r>
              <a:rPr lang="it-IT" dirty="0"/>
              <a:t>, </a:t>
            </a:r>
            <a:r>
              <a:rPr lang="it-IT" dirty="0" err="1" smtClean="0"/>
              <a:t>Git</a:t>
            </a:r>
            <a:r>
              <a:rPr lang="it-IT" dirty="0" smtClean="0"/>
              <a:t>) </a:t>
            </a:r>
            <a:r>
              <a:rPr lang="it-IT" dirty="0"/>
              <a:t>→ errori o limiti degli strumenti possono ridurre la </a:t>
            </a:r>
            <a:r>
              <a:rPr lang="it-IT" dirty="0" smtClean="0"/>
              <a:t>riproducibilità</a:t>
            </a:r>
          </a:p>
          <a:p>
            <a:r>
              <a:rPr lang="it-IT" dirty="0" smtClean="0"/>
              <a:t>Date </a:t>
            </a:r>
            <a:r>
              <a:rPr lang="it-IT" dirty="0"/>
              <a:t>di creazione/risoluzione ticket non sempre </a:t>
            </a:r>
            <a:r>
              <a:rPr lang="it-IT" dirty="0" smtClean="0"/>
              <a:t>precise</a:t>
            </a:r>
          </a:p>
          <a:p>
            <a:r>
              <a:rPr lang="it-IT" dirty="0" smtClean="0"/>
              <a:t>Ticket </a:t>
            </a:r>
            <a:r>
              <a:rPr lang="it-IT" dirty="0"/>
              <a:t>etichettati “bug” potrebbero non esserlo realmente</a:t>
            </a:r>
            <a:endParaRPr lang="it-IT" dirty="0" smtClean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15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Riferimenti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500" b="1" dirty="0" err="1" smtClean="0">
                <a:solidFill>
                  <a:srgbClr val="00C458"/>
                </a:solidFill>
              </a:rPr>
              <a:t>Github</a:t>
            </a:r>
            <a:endParaRPr lang="it-IT" sz="2500" b="1" dirty="0" smtClean="0">
              <a:solidFill>
                <a:srgbClr val="00C458"/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GB" sz="2400" dirty="0" smtClean="0">
              <a:solidFill>
                <a:srgbClr val="00C458"/>
              </a:solidFill>
            </a:endParaRPr>
          </a:p>
          <a:p>
            <a:pPr marL="1206900" lvl="3" indent="-3429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GB" sz="2100" i="1" dirty="0"/>
              <a:t>https://</a:t>
            </a:r>
            <a:r>
              <a:rPr lang="en-GB" sz="2100" i="1" dirty="0" smtClean="0"/>
              <a:t>github.com/MatteoBasili/isw2-progetto-project_management-2024_25</a:t>
            </a:r>
            <a:endParaRPr lang="en-GB" sz="2100" i="1" dirty="0"/>
          </a:p>
          <a:p>
            <a:pPr marL="0" lvl="1" indent="0">
              <a:spcBef>
                <a:spcPts val="1000"/>
              </a:spcBef>
              <a:buNone/>
            </a:pPr>
            <a:endParaRPr lang="it-IT" sz="2500" dirty="0" smtClean="0"/>
          </a:p>
          <a:p>
            <a:pPr marL="0" lvl="1" indent="0">
              <a:spcBef>
                <a:spcPts val="1000"/>
              </a:spcBef>
              <a:buNone/>
            </a:pPr>
            <a:endParaRPr lang="en-GB" sz="2500" dirty="0" smtClean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500" b="1" dirty="0" err="1" smtClean="0">
                <a:solidFill>
                  <a:srgbClr val="00C458"/>
                </a:solidFill>
              </a:rPr>
              <a:t>SonarCloud</a:t>
            </a:r>
            <a:endParaRPr lang="it-IT" sz="2500" b="1" dirty="0" smtClean="0">
              <a:solidFill>
                <a:srgbClr val="00C458"/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GB" sz="2500" dirty="0">
              <a:solidFill>
                <a:srgbClr val="00C458"/>
              </a:solidFill>
            </a:endParaRPr>
          </a:p>
          <a:p>
            <a:pPr marL="1206900" lvl="3" indent="-342900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GB" sz="2100" i="1" dirty="0"/>
              <a:t>https://sonarcloud.io/project/overview?id=MatteoBasili_isw2-progetto-project_management-2024_25</a:t>
            </a:r>
            <a:endParaRPr lang="en-GB" sz="2500" i="1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Matteo Basili - ISW2 2024/25</a:t>
            </a:r>
            <a:endParaRPr lang="en-GB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00B1A-3559-4D9E-843C-EE6F429E8C8C}" type="slidenum">
              <a:rPr lang="en-GB" smtClean="0"/>
              <a:pPr/>
              <a:t>25</a:t>
            </a:fld>
            <a:endParaRPr lang="en-GB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9497"/>
            <a:ext cx="719399" cy="719399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99" y="4503698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4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5101</TotalTime>
  <Words>865</Words>
  <Application>Microsoft Office PowerPoint</Application>
  <PresentationFormat>Widescreen</PresentationFormat>
  <Paragraphs>221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6" baseType="lpstr">
      <vt:lpstr>Arial</vt:lpstr>
      <vt:lpstr>Arial-BoldMT</vt:lpstr>
      <vt:lpstr>ArialMT</vt:lpstr>
      <vt:lpstr>Calibri</vt:lpstr>
      <vt:lpstr>Calibri Light</vt:lpstr>
      <vt:lpstr>Calibri-Bold</vt:lpstr>
      <vt:lpstr>Cambria Math</vt:lpstr>
      <vt:lpstr>Courier New</vt:lpstr>
      <vt:lpstr>Times New Roman</vt:lpstr>
      <vt:lpstr>Wingdings</vt:lpstr>
      <vt:lpstr>Tema di Office</vt:lpstr>
      <vt:lpstr>Predizione di Classi Buggy con Machine Learning</vt:lpstr>
      <vt:lpstr>Agenda</vt:lpstr>
      <vt:lpstr>Introduzione</vt:lpstr>
      <vt:lpstr>Obiettivi</vt:lpstr>
      <vt:lpstr>Assunzioni</vt:lpstr>
      <vt:lpstr>Raccolta Dati</vt:lpstr>
      <vt:lpstr>Ciclo di Vita di un Difetto</vt:lpstr>
      <vt:lpstr>Labeling</vt:lpstr>
      <vt:lpstr>Metriche Estratte</vt:lpstr>
      <vt:lpstr>Addestramento &amp; Valutazione</vt:lpstr>
      <vt:lpstr>Variabile Target</vt:lpstr>
      <vt:lpstr>Modelli e Tecniche</vt:lpstr>
      <vt:lpstr>Valutazione</vt:lpstr>
      <vt:lpstr>Risultati – BOOKKEEPER</vt:lpstr>
      <vt:lpstr>Risultati – BOOKKEEPER (2)</vt:lpstr>
      <vt:lpstr>Risultati – BOOKKEEPER (3)</vt:lpstr>
      <vt:lpstr>Risultati – BOOKKEEPER (4)</vt:lpstr>
      <vt:lpstr>Risultati – STORM</vt:lpstr>
      <vt:lpstr>Risultati – STORM (2)</vt:lpstr>
      <vt:lpstr>Risultati – STORM (3)</vt:lpstr>
      <vt:lpstr>Risultati – STORM (4)</vt:lpstr>
      <vt:lpstr>Conclusioni – BOOKKEEPER</vt:lpstr>
      <vt:lpstr>Conclusioni – STORM</vt:lpstr>
      <vt:lpstr>Minacce alla Validità e Limiti</vt:lpstr>
      <vt:lpstr>Riferimenti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Chandy-Lamport Distributed Algorithm</dc:title>
  <dc:creator>Matteo</dc:creator>
  <cp:lastModifiedBy>matteo basili</cp:lastModifiedBy>
  <cp:revision>323</cp:revision>
  <dcterms:created xsi:type="dcterms:W3CDTF">2024-06-11T15:00:04Z</dcterms:created>
  <dcterms:modified xsi:type="dcterms:W3CDTF">2026-01-01T11:15:03Z</dcterms:modified>
</cp:coreProperties>
</file>